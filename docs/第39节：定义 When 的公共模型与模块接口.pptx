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234fecf304d51" /><Relationship Type="http://schemas.openxmlformats.org/officeDocument/2006/relationships/extended-properties" Target="/docProps/app.xml" Id="R15f33d5f6c4c484f" /><Relationship Type="http://schemas.openxmlformats.org/officeDocument/2006/relationships/officeDocument" Target="/ppt/presentation.xml" Id="R4b14d4c6f7e546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d0b1f9ad9d4877"/>
  </p:sldMasterIdLst>
  <p:notesMasterIdLst>
    <p:notesMasterId xmlns:r="http://schemas.openxmlformats.org/officeDocument/2006/relationships" r:id="R781b8e86c2664641"/>
  </p:notesMasterIdLst>
  <p:sldIdLst>
    <p:sldId xmlns:r="http://schemas.openxmlformats.org/officeDocument/2006/relationships" id="256" r:id="R50de22e1ed6f432a"/>
    <p:sldId xmlns:r="http://schemas.openxmlformats.org/officeDocument/2006/relationships" id="257" r:id="R790e8f36e19a4b28"/>
    <p:sldId xmlns:r="http://schemas.openxmlformats.org/officeDocument/2006/relationships" id="258" r:id="R62c1c6b6f00f4ee8"/>
    <p:sldId xmlns:r="http://schemas.openxmlformats.org/officeDocument/2006/relationships" id="259" r:id="Rf5234636e28b4aa0"/>
    <p:sldId xmlns:r="http://schemas.openxmlformats.org/officeDocument/2006/relationships" id="260" r:id="R2cf6666d4248484c"/>
    <p:sldId xmlns:r="http://schemas.openxmlformats.org/officeDocument/2006/relationships" id="261" r:id="R1f1821b0cf654e3c"/>
    <p:sldId xmlns:r="http://schemas.openxmlformats.org/officeDocument/2006/relationships" id="262" r:id="R756e5cb64e96427a"/>
    <p:sldId xmlns:r="http://schemas.openxmlformats.org/officeDocument/2006/relationships" id="263" r:id="R85bb8008ab554e54"/>
    <p:sldId xmlns:r="http://schemas.openxmlformats.org/officeDocument/2006/relationships" id="264" r:id="R911acc9ec14f4b20"/>
    <p:sldId xmlns:r="http://schemas.openxmlformats.org/officeDocument/2006/relationships" id="265" r:id="R1e78612da72f4190"/>
    <p:sldId xmlns:r="http://schemas.openxmlformats.org/officeDocument/2006/relationships" id="266" r:id="Ra6676d6c87fb463e"/>
    <p:sldId xmlns:r="http://schemas.openxmlformats.org/officeDocument/2006/relationships" id="267" r:id="Rb081c090569c499f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a56b746d644467" /><Relationship Type="http://schemas.openxmlformats.org/officeDocument/2006/relationships/slideMaster" Target="/ppt/slideMasters/slideMaster1.xml" Id="R3bd0b1f9ad9d4877" /><Relationship Type="http://schemas.openxmlformats.org/officeDocument/2006/relationships/notesMaster" Target="/ppt/notesMasters/notesMaster1.xml" Id="R781b8e86c2664641" /><Relationship Type="http://schemas.openxmlformats.org/officeDocument/2006/relationships/presProps" Target="/ppt/presProps.xml" Id="Rfc07e9af53a948ad" /><Relationship Type="http://schemas.openxmlformats.org/officeDocument/2006/relationships/viewProps" Target="/ppt/viewProps.xml" Id="Rb1442bceca774c82" /><Relationship Type="http://schemas.openxmlformats.org/officeDocument/2006/relationships/tableStyles" Target="/ppt/tableStyles.xml" Id="Ra8ef976ea22649ff" /><Relationship Type="http://schemas.openxmlformats.org/officeDocument/2006/relationships/slide" Target="/ppt/slides/slide1.xml" Id="R50de22e1ed6f432a" /><Relationship Type="http://schemas.openxmlformats.org/officeDocument/2006/relationships/slide" Target="/ppt/slides/slide2.xml" Id="R790e8f36e19a4b28" /><Relationship Type="http://schemas.openxmlformats.org/officeDocument/2006/relationships/slide" Target="/ppt/slides/slide3.xml" Id="R62c1c6b6f00f4ee8" /><Relationship Type="http://schemas.openxmlformats.org/officeDocument/2006/relationships/slide" Target="/ppt/slides/slide4.xml" Id="Rf5234636e28b4aa0" /><Relationship Type="http://schemas.openxmlformats.org/officeDocument/2006/relationships/slide" Target="/ppt/slides/slide5.xml" Id="R2cf6666d4248484c" /><Relationship Type="http://schemas.openxmlformats.org/officeDocument/2006/relationships/slide" Target="/ppt/slides/slide6.xml" Id="R1f1821b0cf654e3c" /><Relationship Type="http://schemas.openxmlformats.org/officeDocument/2006/relationships/slide" Target="/ppt/slides/slide7.xml" Id="R756e5cb64e96427a" /><Relationship Type="http://schemas.openxmlformats.org/officeDocument/2006/relationships/slide" Target="/ppt/slides/slide8.xml" Id="R85bb8008ab554e54" /><Relationship Type="http://schemas.openxmlformats.org/officeDocument/2006/relationships/slide" Target="/ppt/slides/slide9.xml" Id="R911acc9ec14f4b20" /><Relationship Type="http://schemas.openxmlformats.org/officeDocument/2006/relationships/slide" Target="/ppt/slides/slide10.xml" Id="R1e78612da72f4190" /><Relationship Type="http://schemas.openxmlformats.org/officeDocument/2006/relationships/slide" Target="/ppt/slides/slide11.xml" Id="Ra6676d6c87fb463e" /><Relationship Type="http://schemas.openxmlformats.org/officeDocument/2006/relationships/slide" Target="/ppt/slides/slide12.xml" Id="Rb081c090569c49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6379f4441440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de9fb18834675" /><Relationship Type="http://schemas.openxmlformats.org/officeDocument/2006/relationships/notesMaster" Target="/ppt/notesMasters/notesMaster1.xml" Id="Rd6cf1eb8795448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1ef34350504815" /><Relationship Type="http://schemas.openxmlformats.org/officeDocument/2006/relationships/notesMaster" Target="/ppt/notesMasters/notesMaster1.xml" Id="R1e4f7ba6a65c44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95e197d5b9428d" /><Relationship Type="http://schemas.openxmlformats.org/officeDocument/2006/relationships/notesMaster" Target="/ppt/notesMasters/notesMaster1.xml" Id="Ra813e2d50a8d49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b60401e8f44bfa" /><Relationship Type="http://schemas.openxmlformats.org/officeDocument/2006/relationships/notesMaster" Target="/ppt/notesMasters/notesMaster1.xml" Id="R55374c797fdd46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8390b7843444f6" /><Relationship Type="http://schemas.openxmlformats.org/officeDocument/2006/relationships/notesMaster" Target="/ppt/notesMasters/notesMaster1.xml" Id="R3670ab1f933548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6faa83ff8e4380" /><Relationship Type="http://schemas.openxmlformats.org/officeDocument/2006/relationships/notesMaster" Target="/ppt/notesMasters/notesMaster1.xml" Id="Ref130a868ef94f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7836d83548446f" /><Relationship Type="http://schemas.openxmlformats.org/officeDocument/2006/relationships/notesMaster" Target="/ppt/notesMasters/notesMaster1.xml" Id="R957f75ef3a0c48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3d06b48a4344f9" /><Relationship Type="http://schemas.openxmlformats.org/officeDocument/2006/relationships/notesMaster" Target="/ppt/notesMasters/notesMaster1.xml" Id="Rb5bab6d1500a48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f8b76bae342ad" /><Relationship Type="http://schemas.openxmlformats.org/officeDocument/2006/relationships/notesMaster" Target="/ppt/notesMasters/notesMaster1.xml" Id="R29c2f5e1f97649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587d4a1a7742c0" /><Relationship Type="http://schemas.openxmlformats.org/officeDocument/2006/relationships/notesMaster" Target="/ppt/notesMasters/notesMaster1.xml" Id="R879c45a58a3b40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202bde63234ca5" /><Relationship Type="http://schemas.openxmlformats.org/officeDocument/2006/relationships/notesMaster" Target="/ppt/notesMasters/notesMaster1.xml" Id="Rba04d6d4492e41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08a94f31a24282" /><Relationship Type="http://schemas.openxmlformats.org/officeDocument/2006/relationships/notesMaster" Target="/ppt/notesMasters/notesMaster1.xml" Id="Rd70cbdabe55340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/Users/oker/Desktop/doc/When（第33-54节）/第39节：构建 When 领域模型与模块间契约（Loop 原料·底座）.md</a:t>
            </a:r>
            <a:endParaRPr/>
          </a:p>
          <a:p xmlns:a="http://schemas.openxmlformats.org/drawingml/2006/main">
            <a:r>
              <a:t>- /Users/oker/Desktop/doc/When（第33-54节）/When 项目技术方案文档.md</a:t>
            </a:r>
            <a:endParaRPr/>
          </a:p>
          <a:p xmlns:a="http://schemas.openxmlformats.org/drawingml/2006/main">
            <a:r>
              <a:t>- /Users/oker/Desktop/doc/When（第33-54节）/第37节：设计 When 的 Loop 模型.pptx（视觉母版）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956f65092423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8d17b262e24d15" /><Relationship Type="http://schemas.openxmlformats.org/officeDocument/2006/relationships/slideLayout" Target="/ppt/slideLayouts/slideLayout1.xml" Id="Re76608d4af17489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6608d4af17489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b4e0e9bf704dc7" /><Relationship Type="http://schemas.openxmlformats.org/officeDocument/2006/relationships/notesSlide" Target="/ppt/notesSlides/notesSlide1.xml" Id="Rb73e3da6233e41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b5462b3324fe8" /><Relationship Type="http://schemas.openxmlformats.org/officeDocument/2006/relationships/notesSlide" Target="/ppt/notesSlides/notesSlide2.xml" Id="Rb0482356973b43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f5621c9a74d39" /><Relationship Type="http://schemas.openxmlformats.org/officeDocument/2006/relationships/image" Target="/ppt/media/image.png" Id="R59422fe8738a43dc" /><Relationship Type="http://schemas.openxmlformats.org/officeDocument/2006/relationships/notesSlide" Target="/ppt/notesSlides/notesSlide3.xml" Id="R77814a1a387d46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c065710f543aa" /><Relationship Type="http://schemas.openxmlformats.org/officeDocument/2006/relationships/notesSlide" Target="/ppt/notesSlides/notesSlide4.xml" Id="R7b7798c3bcab4a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cf9f364ea43f3" /><Relationship Type="http://schemas.openxmlformats.org/officeDocument/2006/relationships/notesSlide" Target="/ppt/notesSlides/notesSlide5.xml" Id="Rb0bd86d5edd748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413b8025248c3" /><Relationship Type="http://schemas.openxmlformats.org/officeDocument/2006/relationships/notesSlide" Target="/ppt/notesSlides/notesSlide6.xml" Id="R7fcfb53dddbc43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b840e14fe4955" /><Relationship Type="http://schemas.openxmlformats.org/officeDocument/2006/relationships/image" Target="/ppt/media/image2.png" Id="R4ae177ef699c4708" /><Relationship Type="http://schemas.openxmlformats.org/officeDocument/2006/relationships/notesSlide" Target="/ppt/notesSlides/notesSlide7.xml" Id="R433ee77554da48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1b570c3a24ab3" /><Relationship Type="http://schemas.openxmlformats.org/officeDocument/2006/relationships/notesSlide" Target="/ppt/notesSlides/notesSlide8.xml" Id="R2eded780cd7048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3ac07e1e945a8" /><Relationship Type="http://schemas.openxmlformats.org/officeDocument/2006/relationships/notesSlide" Target="/ppt/notesSlides/notesSlide9.xml" Id="R717a8f1f899d4d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0d505a26f4c3d" /><Relationship Type="http://schemas.openxmlformats.org/officeDocument/2006/relationships/notesSlide" Target="/ppt/notesSlides/notesSlide10.xml" Id="R671847df002743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d961151274394" /><Relationship Type="http://schemas.openxmlformats.org/officeDocument/2006/relationships/notesSlide" Target="/ppt/notesSlides/notesSlide11.xml" Id="Ra656cca557ee4a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d99dbd20848e4" /><Relationship Type="http://schemas.openxmlformats.org/officeDocument/2006/relationships/notesSlide" Target="/ppt/notesSlides/notesSlide12.xml" Id="Reb49d98331494f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0517A9-C0FE-494B-A05C-BF477A00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042416" cy="329184"/>
          </a:xfrm>
          <a:prstGeom xmlns:a="http://schemas.openxmlformats.org/drawingml/2006/main" prst="roundRect">
            <a:avLst>
              <a:gd name="adj" fmla="val 13889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08F666-E399-4A89-ADED-902CEDE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10424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第 39 节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3A6AA7-F46A-4924-8496-07463E6A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82296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定义 When 的公共模型与模块接口</a:t>
            </a:r>
            <a:endParaRPr sz="4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7C9CA3-7212-460C-8E0C-0AFD7954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87168"/>
            <a:ext cx="8229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先统一消息、状态和调用方式，再分别实现各模块</a:t>
            </a:r>
            <a:endParaRPr sz="2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558AFF-F4A2-425A-940A-32A54A24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822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A9A9A"/>
                </a:solidFill>
                <a:latin typeface="Arial"/>
                <a:ea typeface="Arial"/>
                <a:cs typeface="Arial"/>
              </a:rPr>
              <a:t>第 40～53 节将分别实现不同模块；只有使用同一套公共契约，最后才能组合成完整系统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D00A0DD-DAF5-42AB-B6EA-4ECDFBC97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4340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7E7E7E"/>
                </a:solidFill>
                <a:latin typeface="Arial"/>
                <a:ea typeface="Arial"/>
                <a:cs typeface="Arial"/>
              </a:rPr>
              <a:t>本节交付：Message、状态机、四个公共接口、强类型 SinkConfig 和公共 Harness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55057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806D53-E371-44D2-AD6E-DF72331B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4C327D-66F5-40BC-A96F-EA59D9E3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2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DEEAD5-E3F8-4AFB-96BE-22D1D6A2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70432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4AC5283-5CCE-4F36-9698-9EDE3C6B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1704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先看一个问题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CF22376-CFDF-4909-A602-15EEB3B8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为什么不能一开始就分别实现各模块？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67AEF3D-4986-42B1-A3ED-E8A99E64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813816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B0ADDC-008C-4616-B62F-563D86FC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417320"/>
            <a:ext cx="766267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如果每个模块各自定义 Message 和状态，单个模块能通过测试，集成仍可能失败。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E6CC3A9-F140-46BD-A664-0ECF5942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40280"/>
            <a:ext cx="39090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554F589-F96C-4DD6-971A-3A8B741F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04872"/>
            <a:ext cx="39090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13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各模块自行定义</a:t>
            </a:r>
            <a:endParaRPr sz="13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C7169CE-3ACA-4CFA-AFC6-1D19074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9504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D6433A-023D-4D24-978D-55F045BC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07208"/>
            <a:ext cx="34518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D6D6D6"/>
                </a:solidFill>
                <a:latin typeface="Arial"/>
                <a:ea typeface="Arial"/>
                <a:cs typeface="Arial"/>
              </a:rPr>
              <a:t>接入层叫 taskId，存储层叫 messageId</a:t>
            </a:r>
            <a:endParaRPr sz="12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2C620EE-285F-4268-AA78-EE2CD270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789B31C-3598-4A21-9E58-AF9C6996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209544"/>
            <a:ext cx="34518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00">
                <a:solidFill>
                  <a:srgbClr val="D6D6D6"/>
                </a:solidFill>
                <a:latin typeface="Arial"/>
                <a:ea typeface="Arial"/>
                <a:cs typeface="Arial"/>
              </a:rPr>
              <a:t>一个模块立即删除，另一个模块仍要查询状态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38C0B9F-B272-4A9A-B0A3-D4E2A3A4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240280"/>
            <a:ext cx="3909060" cy="13716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B2620"/>
          </a:solidFill>
          <a:ln xmlns:a="http://schemas.openxmlformats.org/drawingml/2006/main" w="12700">
            <a:solidFill>
              <a:srgbClr val="8C764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A776AC0-E6CA-42A2-A739-1F72B95B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2404872"/>
            <a:ext cx="39090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13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问题通常在联调时出现</a:t>
            </a:r>
            <a:endParaRPr sz="13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07FDB6B-8E76-423E-960A-8E49D45D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0620" y="2788920"/>
            <a:ext cx="34518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字段、状态和生命周期不一致，问题通常到集成时才暴露。</a:t>
            </a:r>
            <a:endParaRPr sz="12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07CDAB28-99EC-4EEB-9B8E-F4B55D68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603504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69CDCB-BA49-40F5-AC48-97D4422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840480"/>
            <a:ext cx="7662672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所以第 39 节先统一公共模型与接口，再开始各模块实现。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817121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AB24D9-8D5B-4951-BBBB-2A8CE2AE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953EF3-5FC3-4B25-9C6B-CDDFF9B0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3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8C8DE5-486E-4429-8AEA-5F187699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914400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3B78A20-9406-4F00-8FBB-4BEA96F1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本节位置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82D419-E3C6-42DE-9AA9-EDC18298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第 39 节是后续模块的共同上游</a:t>
            </a:r>
            <a:endParaRPr sz="2300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22fe8738a43dc"/>
          <a:stretch xmlns:a="http://schemas.openxmlformats.org/drawingml/2006/main"/>
        </p:blipFill>
        <p:spPr>
          <a:xfrm xmlns:a="http://schemas.openxmlformats.org/drawingml/2006/main">
            <a:off x="502920" y="1382144"/>
            <a:ext cx="8138160" cy="321741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46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524AE35-C145-420F-9D57-82663E4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C70789-B116-4587-850E-F77F336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4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A354337-A4A6-4A25-8A8F-76408198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2194560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2DD5DC-F62C-4F25-A87A-2826075E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2194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本节交付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901F10A-F992-49FF-A418-D08870D9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两类公共契约 + 一组所有模块共同遵守的规则</a:t>
            </a:r>
            <a:endParaRPr sz="2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DD85284-29F8-4485-A84D-CD1D2228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71600"/>
            <a:ext cx="36576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7FA8C9"/>
                </a:solidFill>
                <a:latin typeface="Arial"/>
                <a:ea typeface="Arial"/>
                <a:cs typeface="Arial"/>
              </a:rPr>
              <a:t>① 公共模型：统一定义“消息是什么”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3C4A1AE-2850-4F8C-A8B0-03FCFBD0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04853EF-93BC-49C1-AB04-9A6A5275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737360"/>
            <a:ext cx="38587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Message：身份、时间、载荷、目标和运行状态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699D357-8940-4460-A0BB-8EC6743B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737360"/>
            <a:ext cx="39319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B443AA8-62A3-4020-818B-7FB067B1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737360"/>
            <a:ext cx="38587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MessageStatus：五种状态和合法转换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0122A3C-EA79-4025-8E99-5203E8B9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32304"/>
            <a:ext cx="39319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2DFDD2A-FED4-40E9-8B87-78FA109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432304"/>
            <a:ext cx="38587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SinkType：投递目标枚举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3D2F3C1-DE58-4B29-9583-45E4BCED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32304"/>
            <a:ext cx="393192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BF72706-222E-4473-B40F-800F299C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432304"/>
            <a:ext cx="38587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SinkConfig：强类型目标配置</a:t>
            </a:r>
            <a:endParaRPr sz="1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451F8A4-4DBB-4400-99B2-20D8C98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2999232"/>
            <a:ext cx="3657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↓</a:t>
            </a:r>
            <a:endParaRPr sz="16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8719A65B-1537-4445-98A5-02DFC4DD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C9A96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FA4627F-FBE7-4C70-858D-A76C1D2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419856"/>
            <a:ext cx="360273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② 四个公共接口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FEAF4C2-414A-49AB-9D61-B74F494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30752"/>
            <a:ext cx="36027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6D6D6"/>
                </a:solidFill>
                <a:latin typeface="Arial"/>
                <a:ea typeface="Arial"/>
                <a:cs typeface="Arial"/>
              </a:rPr>
              <a:t>StoragePlugin · TimeWheel · Sink · Router</a:t>
            </a:r>
            <a:endParaRPr sz="11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566BB9-E9E6-4655-B9BB-E2B751B3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82296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C98A8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E9E13D4-81E6-46A8-827A-3427A2527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419856"/>
            <a:ext cx="360273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C98A82"/>
                </a:solidFill>
                <a:latin typeface="Arial"/>
                <a:ea typeface="Arial"/>
                <a:cs typeface="Arial"/>
              </a:rPr>
              <a:t>③ 一组共同规则</a:t>
            </a:r>
            <a:endParaRPr sz="13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8AAE452-B34E-4CBD-A6B3-AABD5DD2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730752"/>
            <a:ext cx="360273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D6D6D6"/>
                </a:solidFill>
                <a:latin typeface="Arial"/>
                <a:ea typeface="Arial"/>
                <a:cs typeface="Arial"/>
              </a:rPr>
              <a:t>安全 · 分层 · 依赖方向 · 验收</a:t>
            </a:r>
            <a:endParaRPr sz="11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F8BA9A5-2E9B-45D6-BCA4-553BD60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8138160" cy="50292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7579948-9768-4550-BB79-3F79DA2F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251960"/>
            <a:ext cx="76626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完成标准：模型和接口可编译，公共规则写入根 CLAUDE.md，后续各节直接引用。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46167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1E37B14-87BF-46DF-86A7-8F068D95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2237F6-64A2-4421-88C3-1ADF29BD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5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332B566-AEC8-414B-B9ED-EE698BDF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2322576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9B93C75-3B7B-4958-91EB-3F4C12AA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2322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领域模型 · Message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54C9C33-185D-4AFA-9D92-30C0508A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同一个 Message 贯穿接入、路由、调度、存储和投递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4C253E2-2E61-4C38-BD5C-AFE8AEF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56032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7FA8C9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DB8056-B24E-4FBE-91E9-8FDD1EF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736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7FA8C9"/>
                </a:solidFill>
                <a:latin typeface="Arial"/>
                <a:ea typeface="Arial"/>
                <a:cs typeface="Arial"/>
              </a:rPr>
              <a:t>身份与时间</a:t>
            </a:r>
            <a:endParaRPr sz="17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C2AFE17-2696-45CD-91E1-F8E6C959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D592FD0-C9A9-4FE5-9138-2421B94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2194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2000"/>
              </a:lnSpc>
              <a:buNone/>
            </a:pPr>
            <a:r>
              <a:rPr sz="1200">
                <a:solidFill>
                  <a:srgbClr val="D6D6D6"/>
                </a:solidFill>
                <a:latin typeface="Arial"/>
                <a:ea typeface="Arial"/>
                <a:cs typeface="Arial"/>
              </a:rPr>
              <a:t>messageId / traceId
createdAt / deliverAt
nextAttemptAt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208F077-7354-4555-9755-BC757D9C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256032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C98A8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7BA7EDA-5D5E-4956-9A0D-4F6468F0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73736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98A82"/>
                </a:solidFill>
                <a:latin typeface="Arial"/>
                <a:ea typeface="Arial"/>
                <a:cs typeface="Arial"/>
              </a:rPr>
              <a:t>投递意图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02946B1-CFAF-495C-8EC4-865DA54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212848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A3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0370BC7-8550-4106-A65F-938A5568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31720"/>
            <a:ext cx="2194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2000"/>
              </a:lnSpc>
              <a:buNone/>
            </a:pPr>
            <a:r>
              <a:rPr sz="1200">
                <a:solidFill>
                  <a:srgbClr val="D6D6D6"/>
                </a:solidFill>
                <a:latin typeface="Arial"/>
                <a:ea typeface="Arial"/>
                <a:cs typeface="Arial"/>
              </a:rPr>
              <a:t>sinkType + sinkConfig
payload（≤64KB）
businessTag</a:t>
            </a:r>
            <a:endParaRPr sz="12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87C5A04-8C17-4686-BFE7-A1B34AB7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554480"/>
            <a:ext cx="256032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C9A96E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FD9DA6-8695-4E43-AAC3-97DE45AA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73736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运行状态</a:t>
            </a:r>
            <a:endParaRPr sz="17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FFBD22-DF5F-45A1-8B06-EAAF5682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12848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3A3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C145733-A5C5-4ACF-BFE1-9C6FE418F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331720"/>
            <a:ext cx="219456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2000"/>
              </a:lnSpc>
              <a:buNone/>
            </a:pPr>
            <a:r>
              <a:rPr sz="1200">
                <a:solidFill>
                  <a:srgbClr val="D6D6D6"/>
                </a:solidFill>
                <a:latin typeface="Arial"/>
                <a:ea typeface="Arial"/>
                <a:cs typeface="Arial"/>
              </a:rPr>
              <a:t>timeWheelId / status
retryCount / deliveredAt
lastError</a:t>
            </a:r>
            <a:endParaRPr sz="12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B6F21F59-8E60-46CD-ABF9-39772186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813816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4DF0BC1-9417-414B-8B03-DF256C1A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94760"/>
            <a:ext cx="76626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所有模块直接使用同一个 Message；禁止再定义含义相同的消息对象。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02865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37E990-043A-42BE-BC22-703404D0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D0953CF-103B-4557-A5A0-879B28C5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6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1BE791-F218-4AEF-AEB9-54E9D295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554480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95D55D0-FDF7-4D12-A3DA-0C2A83A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554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状态机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A23608D-82DC-49DE-9471-68D0C39C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五种状态，只允许五条转换路径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E2216FE-1DA7-4421-A0AF-A56FDC18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246888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DEAE1E5-9D00-4C4B-A5BF-F5330402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508760"/>
            <a:ext cx="239572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PENDING</a:t>
            </a:r>
            <a:endParaRPr sz="13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等待投递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E8E488A-C88C-4E3C-ADAB-C86618F0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1508760"/>
            <a:ext cx="40233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2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6A95805-3BE2-417A-A161-241B6D28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08760"/>
            <a:ext cx="246888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A504CD1-1FFA-49E6-B71A-F8C4C35C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136" y="1508760"/>
            <a:ext cx="239572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DELIVERING</a:t>
            </a:r>
            <a:endParaRPr sz="13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已占投递权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DC2C53B-5747-424E-A42A-9A2985C6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508760"/>
            <a:ext cx="40233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20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87B9BD1-3521-41F4-A39D-5F0EF3200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8760"/>
            <a:ext cx="246888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B2620"/>
          </a:solidFill>
          <a:ln xmlns:a="http://schemas.openxmlformats.org/drawingml/2006/main" w="12700">
            <a:solidFill>
              <a:srgbClr val="8C764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DAF3E41-D931-485A-8073-8B4A2D7A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508760"/>
            <a:ext cx="239572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DELIVERED</a:t>
            </a:r>
            <a:endParaRPr sz="13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投递成功</a:t>
            </a:r>
            <a:endParaRPr sz="13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5A65B27C-C6CF-4D64-942D-41EE3BBF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16936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B6E3CC0-C3AB-4E98-975A-F7927C0D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834640"/>
            <a:ext cx="784555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300">
                <a:solidFill>
                  <a:srgbClr val="D6D6D6"/>
                </a:solidFill>
                <a:latin typeface="Arial"/>
                <a:ea typeface="Arial"/>
                <a:cs typeface="Arial"/>
              </a:rPr>
              <a:t>可重试失败：DELIVERING → PENDING，并写入 nextAttemptAt 后重新调度。</a:t>
            </a:r>
            <a:endParaRPr sz="13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E454F60-A413-431B-9BCF-CA9ABE5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4186F07-FAD2-4412-82AE-B517227E7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346704"/>
            <a:ext cx="784555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300">
                <a:solidFill>
                  <a:srgbClr val="D6D6D6"/>
                </a:solidFill>
                <a:latin typeface="Arial"/>
                <a:ea typeface="Arial"/>
                <a:cs typeface="Arial"/>
              </a:rPr>
              <a:t>不可重试或次数耗尽 → FAILED；只有 PENDING 才能 → CANCELLED。</a:t>
            </a:r>
            <a:endParaRPr sz="13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49073FC-7A7D-43AB-97A5-338CA98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0157CDC-470A-46D6-84CC-18E3C910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23360"/>
            <a:ext cx="7662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9A9A9A"/>
                </a:solidFill>
                <a:latin typeface="Arial"/>
                <a:ea typeface="Arial"/>
                <a:cs typeface="Arial"/>
              </a:rPr>
              <a:t>核心约束：所有状态转换必须原子；同一条消息只能有一个执行者获得投递权。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9281999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CB40079-25B4-41B1-96AE-341D5D5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562F14-5CF0-4046-84CC-1E00306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7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0FC71CE-CC46-488A-A9CA-88D9BAC9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938528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B4E0C20-A94D-4F6F-8F91-6C421914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938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契约关系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A5A8AA1-602D-40DF-9679-2FFF45CB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同一个 Message 通过公共接口流经各模块</a:t>
            </a:r>
            <a:endParaRPr sz="2300"/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177ef699c4708"/>
          <a:stretch xmlns:a="http://schemas.openxmlformats.org/drawingml/2006/main"/>
        </p:blipFill>
        <p:spPr>
          <a:xfrm xmlns:a="http://schemas.openxmlformats.org/drawingml/2006/main">
            <a:off x="1143000" y="1314450"/>
            <a:ext cx="685800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84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C89F682-1139-43A7-A286-FF96958A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DD0CC1-A87C-45B3-8921-486897F3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8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C3BDB5-9D0D-4066-9386-CF6BB4A7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786384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C5B99E6-D2C7-48B3-97CA-B5F2FB38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78638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存储契约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D3D1DC6-9B87-4B8E-A3D2-B7FC3DC1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所有状态变化都必须通过 StoragePlugin 原子执行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59A54D8-20E3-4540-9724-F53313D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17320"/>
            <a:ext cx="390906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7FB08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887FF2F-0D8A-4EDD-AAA9-69A08259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63624"/>
            <a:ext cx="39090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1400" b="1">
                <a:solidFill>
                  <a:srgbClr val="7FB08A"/>
                </a:solidFill>
                <a:latin typeface="Arial"/>
                <a:ea typeface="Arial"/>
                <a:cs typeface="Arial"/>
              </a:rPr>
              <a:t>StoragePlugin · 持久化与恢复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83E142-2A75-473E-B652-0285815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66544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08A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2A8FAD2-0009-48DC-839A-B3B20BBE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84248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create / get：创建与查询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ADBA930-A319-4678-BE15-F4B47650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8716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08A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4B1C2E9-D134-4678-B7A6-C8E64405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404872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transition：原子转换状态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4C1D44B-46B3-4B92-AB6F-4F8F6783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07792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FB08A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4E05093-1D72-4E2E-A2C3-63F9D25F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25496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恢复待处理消息；清理过期终态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9505471-C22C-44F9-9490-0B21D5B6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1417320"/>
            <a:ext cx="3909060" cy="196596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C98A82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DD06576-3CD7-44C9-A532-75E89587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2020" y="1563624"/>
            <a:ext cx="39090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2000"/>
              </a:lnSpc>
              <a:buNone/>
            </a:pPr>
            <a:r>
              <a:rPr sz="1400" b="1">
                <a:solidFill>
                  <a:srgbClr val="C98A82"/>
                </a:solidFill>
                <a:latin typeface="Arial"/>
                <a:ea typeface="Arial"/>
                <a:cs typeface="Arial"/>
              </a:rPr>
              <a:t>必须保持的状态规则</a:t>
            </a:r>
            <a:endParaRPr sz="14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BF2C1CB-5902-4DA2-9AD1-2254B7BD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066544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82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EAAF86A-19E9-4165-974F-80994D01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924" y="1984248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一条消息只有一个执行者获得投递权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EBB667E-CEB8-476E-996A-4FECF1A8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487168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82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36143149-87D3-47F4-8D4F-1C9CB74C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924" y="2404872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终态在保留期内仍然可以查询</a:t>
            </a:r>
            <a:endParaRPr sz="12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9DB607F-C015-4C93-8E19-CD9E6DFB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907792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8A82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DC5F4BD-F826-49A7-A8A3-402FEF73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6924" y="2825496"/>
            <a:ext cx="345186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超过保留期后才允许清理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FBFA59E-717C-4B61-89D4-33B1543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03320"/>
            <a:ext cx="813816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0840C6D-4184-4E64-BE0C-5B101E98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703320"/>
            <a:ext cx="7662672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Redis 保存权威状态；时间轮只保存可以从 Redis 重建的内存调度索引。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502044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979CE4-7BB9-4959-BC33-E2734CD3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9E5C6A-3A1A-492E-B7CB-E02E1855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9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85E6F1-5499-41B5-9817-57156A3A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938528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F8259B6-93C7-488A-9BD2-A6336A75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938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契约地图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47117EF-CC6E-4B44-9AD5-EDF50334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每个接口都明确谁定义、谁实现、谁使用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E5ECA1D-12ED-4814-840B-CF3F32A1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08760"/>
            <a:ext cx="39319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0341C8-0D39-49D6-85A1-343DC46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508760"/>
            <a:ext cx="3858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Message / Status → 第 39 节定义，所有模块使用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0CCE37F-9D2F-444E-83BE-CC8E1441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508760"/>
            <a:ext cx="39319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DAB7193-CB39-4AB8-A224-6D45BE20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508760"/>
            <a:ext cx="3858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StoragePlugin → 第 41 节实现，44/45/47 使用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8BCEDBB-FFA4-4662-91EE-938B0BFF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40280"/>
            <a:ext cx="39319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3EEBDCF-CB42-4712-A4AB-FDA0D6B2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2240280"/>
            <a:ext cx="3858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TimeWheel / Router → 第 44 / 45 节实现</a:t>
            </a:r>
            <a:endParaRPr sz="12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853C9FD-7A44-400B-998B-73DB4D23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40280"/>
            <a:ext cx="393192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BC0FE2D-A5DD-45AE-8FDA-0D2E368E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2240280"/>
            <a:ext cx="385876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Sink → 49 实现 HTTP / Kafka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526CA12-D2BE-4CEE-ABA8-5BC0C6B5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63240"/>
            <a:ext cx="813816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8FB9AE7-9CF9-41F1-B4E9-8E6C9CA1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063240"/>
            <a:ext cx="7662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7FA8C9"/>
                </a:solidFill>
                <a:latin typeface="Arial"/>
                <a:ea typeface="Arial"/>
                <a:cs typeface="Arial"/>
              </a:rPr>
              <a:t>SinkConfig 由第 39 节定义；40 负责传输，45 转成 Message，49 负责投递。</a:t>
            </a:r>
            <a:endParaRPr sz="12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21A5F00-5709-483C-BC50-070764C7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8138160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CDBEDD9-5D0F-406D-9360-CC19EB2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931920"/>
            <a:ext cx="7662672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接口或字段变化时，先修改第 39 节，再检查所有实现方和使用方。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1863291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DFA768-05D3-48FD-A7FA-7EB17B09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97E29D0-6293-49AB-B9DA-1AA3D25A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10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8469E23-6522-4D25-831A-9ED9E937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682496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127C63A-459B-4F46-9AF1-85E46D33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6824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共同规则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D0AC29-7B7E-4B22-89BF-28FAC058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公共 Harness 约束所有模块的实现方式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E30177-F7F0-486A-B4E8-8601F83C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8138160" cy="128016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B2620"/>
          </a:solidFill>
          <a:ln xmlns:a="http://schemas.openxmlformats.org/drawingml/2006/main" w="12700">
            <a:solidFill>
              <a:srgbClr val="8C764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5730F1-19E8-45A9-B67C-7268DCD1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572768"/>
            <a:ext cx="5486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所有模块必须遵守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4D68BF5-6B88-4134-B06C-C59840C3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161163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0EE979-D93B-4F04-833A-E075C5AB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11680"/>
            <a:ext cx="153847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安全
凭据不硬编码</a:t>
            </a:r>
            <a:endParaRPr sz="11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4F0EF6D-725B-4F9E-9A0B-CA9BAF9E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011680"/>
            <a:ext cx="161163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CF2A56E-87BD-44E0-8729-D37254B8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1206" y="2011680"/>
            <a:ext cx="153847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分层
api / core / plugin / cluster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FDE39AB-D6F5-41E2-92BD-6DA6EDA6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011680"/>
            <a:ext cx="161163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3E46718-D82F-4217-8D5A-F794262E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4316" y="2011680"/>
            <a:ext cx="153847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依赖
只依赖公共接口</a:t>
            </a:r>
            <a:endParaRPr sz="11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2D68F86-A55A-423D-96AB-83ADA779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11680"/>
            <a:ext cx="1611630" cy="566928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C394777-EA9F-4F32-A92D-F0ABAE3D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7426" y="2011680"/>
            <a:ext cx="153847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15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验收
测试不可删除</a:t>
            </a:r>
            <a:endParaRPr sz="115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934DC06-AAD4-4B40-931D-376D382D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8138160" cy="105156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FB6C2E9-3D82-4285-A50A-6E3BDAF7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35808"/>
            <a:ext cx="54864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7FA8C9"/>
                </a:solidFill>
                <a:latin typeface="Arial"/>
                <a:ea typeface="Arial"/>
                <a:cs typeface="Arial"/>
              </a:rPr>
              <a:t>每节再补自己的模块规则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DF6F5C-E4F2-4824-887F-65C4D0F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19856"/>
            <a:ext cx="76809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250">
                <a:solidFill>
                  <a:srgbClr val="D6D6D6"/>
                </a:solidFill>
                <a:latin typeface="Arial"/>
                <a:ea typeface="Arial"/>
                <a:cs typeface="Arial"/>
              </a:rPr>
              <a:t>例如：时间轮线程禁止同步 IO；Redis 禁止大 Key；敏感配置必须通过环境变量注入。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CB0E7DBE-8BBD-4EAF-8BEE-F1C2BB13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38C094-5698-4807-8F1D-AC2BE2DA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160520"/>
            <a:ext cx="7662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公共 Harness 管全局规则，模块 Harness 管本模块增量；二者共同限定实现和验收。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306731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15AC5F4-B9A7-4001-AE07-72F57A2A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52A987-6745-475D-BB08-4F574777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11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0BC5F3-9DC4-4709-BE72-C57221B2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042416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751518-9000-40E1-B2F2-9021591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104241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完成标准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48A809B-2C42-43F7-8C85-48E050E2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第 39 节完成时，公共契约应能直接被后续模块引用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3C386B6-6AC8-4EA8-9E14-34347BD7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2468880" cy="12344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8C04F38-AB36-4BB4-9DC4-3190A0EF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700784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9A9A"/>
                </a:solidFill>
                <a:latin typeface="Arial"/>
                <a:ea typeface="Arial"/>
                <a:cs typeface="Arial"/>
              </a:rPr>
              <a:t>交付 1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DEAF40-4311-4F90-BEAB-2BFD8F16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011680"/>
            <a:ext cx="2249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Java 公共类型</a:t>
            </a:r>
            <a:endParaRPr sz="15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4A29DB1-3F27-44A8-9B60-A7CC44F8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" y="2377440"/>
            <a:ext cx="22128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Message / StatePatch</a:t>
            </a:r>
            <a:endParaRPr sz="1050"/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四个公共接口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B740AC-95E5-4945-B642-AB928A80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1554480"/>
            <a:ext cx="402336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2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A6C9BCB-D806-4BD3-8C8A-851E3078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554480"/>
            <a:ext cx="2468880" cy="12344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EF5F5CB-850C-4F52-9CE4-B33127F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700784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9A9A"/>
                </a:solidFill>
                <a:latin typeface="Arial"/>
                <a:ea typeface="Arial"/>
                <a:cs typeface="Arial"/>
              </a:rPr>
              <a:t>交付 2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3B5236-3598-4CA9-AFF9-5632149C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2011680"/>
            <a:ext cx="2249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公共 proto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2AA6289-0C22-4932-BB55-BA6F7CD3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377440"/>
            <a:ext cx="22128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SinkType / MessageStatus</a:t>
            </a:r>
            <a:endParaRPr sz="1050"/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强类型 SinkConfig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BE2347-6545-4039-98C4-956BCCB7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1554480"/>
            <a:ext cx="402336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20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9F20BAB-F106-4C5D-AEBC-7B510E34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54480"/>
            <a:ext cx="2468880" cy="123444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2FC61CA-B1A4-4AAD-8C5D-7F9BF36B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1700784"/>
            <a:ext cx="2249424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9A9A9A"/>
                </a:solidFill>
                <a:latin typeface="Arial"/>
                <a:ea typeface="Arial"/>
                <a:cs typeface="Arial"/>
              </a:rPr>
              <a:t>交付 3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AB7FFC2-8D7E-42AF-BDB7-7F430163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1928" y="2011680"/>
            <a:ext cx="224942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公共 Harness</a:t>
            </a:r>
            <a:endParaRPr sz="15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E56292D-3418-4A83-BB82-CD28A037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377440"/>
            <a:ext cx="22128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根 CLAUDE.md</a:t>
            </a:r>
            <a:endParaRPr sz="1050"/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1050">
                <a:solidFill>
                  <a:srgbClr val="D6D6D6"/>
                </a:solidFill>
                <a:latin typeface="Arial"/>
                <a:ea typeface="Arial"/>
                <a:cs typeface="Arial"/>
              </a:rPr>
              <a:t>安全 / 分层 / 验收</a:t>
            </a:r>
            <a:endParaRPr sz="10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D2D6F99-328F-4128-8819-5954E81E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54680"/>
            <a:ext cx="8138160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D394136-8849-47D6-BA53-4CA28673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154680"/>
            <a:ext cx="766267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完成标准：Java 类型和 proto 可编译，契约地图与后续各节一致。</a:t>
            </a:r>
            <a:endParaRPr sz="12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842A6242-EAD6-4C8A-BD55-32E14B93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52A937D-9E45-465E-BE75-CC0AAA6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023360"/>
            <a:ext cx="76626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9A9A9A"/>
                </a:solidFill>
                <a:latin typeface="Arial"/>
                <a:ea typeface="Arial"/>
                <a:cs typeface="Arial"/>
              </a:rPr>
              <a:t>第 40 节起只实现模块职责，不重新定义公共对象。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733167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E1E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841D290-0076-47E3-9A89-C201D9BA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64608"/>
            <a:ext cx="6400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When · 第 39 节 · 构建领域模型与模块间契约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9E1912-D3B5-420B-A785-C14BB0BD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4864608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6E6E6E"/>
                </a:solidFill>
                <a:latin typeface="Arial"/>
                <a:ea typeface="Arial"/>
                <a:cs typeface="Arial"/>
              </a:rPr>
              <a:t>12 / 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9000A28-A3BC-4B68-8813-0A15AAE0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530352" cy="310896"/>
          </a:xfrm>
          <a:prstGeom xmlns:a="http://schemas.openxmlformats.org/drawingml/2006/main" prst="roundRect">
            <a:avLst>
              <a:gd name="adj" fmla="val 14706"/>
            </a:avLst>
          </a:prstGeom>
          <a:ln xmlns:a="http://schemas.openxmlformats.org/drawingml/2006/main" w="12700">
            <a:solidFill>
              <a:srgbClr val="C9A96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1CCA288-A0AC-4035-A437-6FAEA72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530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收束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CF17FEC-6677-4D01-8677-5D2F62FD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94944"/>
            <a:ext cx="81381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300" b="1">
                <a:solidFill>
                  <a:srgbClr val="F0F0F0"/>
                </a:solidFill>
                <a:latin typeface="Arial"/>
                <a:ea typeface="Arial"/>
                <a:cs typeface="Arial"/>
              </a:rPr>
              <a:t>公共契约统一后，各模块才能独立实现并正确组合</a:t>
            </a:r>
            <a:endParaRPr sz="23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14A070D-A955-483D-B98B-1F6759C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182880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EA50104-F945-4FA5-92E1-FA5A5910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600200"/>
            <a:ext cx="175564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第 40 节</a:t>
            </a:r>
            <a:endParaRPr sz="12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gRPC 契约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556A9EF-2D0E-4183-AA78-1500D870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1600200"/>
            <a:ext cx="3108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17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82A34A-1559-40C0-8293-4C3CDAC4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1600200"/>
            <a:ext cx="182880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1E6110-F6D9-4071-BA3C-03B7CC6C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616" y="1600200"/>
            <a:ext cx="175564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第 41 节</a:t>
            </a:r>
            <a:endParaRPr sz="12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Redis 存储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11D59FF-D45C-4099-A7C7-97D9278A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600200"/>
            <a:ext cx="3108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17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057413A-0B67-468E-B108-6E9163A2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00200"/>
            <a:ext cx="182880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62626"/>
          </a:solidFill>
          <a:ln xmlns:a="http://schemas.openxmlformats.org/drawingml/2006/main" w="12700">
            <a:solidFill>
              <a:srgbClr val="3A3A3A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BB6DEAB-2E52-4981-A5A5-B750CE3D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736" y="1600200"/>
            <a:ext cx="175564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第 44 节</a:t>
            </a:r>
            <a:endParaRPr sz="12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D6D6D6"/>
                </a:solidFill>
                <a:latin typeface="Arial"/>
                <a:ea typeface="Arial"/>
                <a:cs typeface="Arial"/>
              </a:rPr>
              <a:t>时间轮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180A827-6ECE-437D-81C6-20E5EDBD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1600200"/>
            <a:ext cx="310896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→</a:t>
            </a:r>
            <a:endParaRPr sz="17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C4D9B37-42F2-435C-868F-CB957986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600200"/>
            <a:ext cx="1828800" cy="100584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B2620"/>
          </a:solidFill>
          <a:ln xmlns:a="http://schemas.openxmlformats.org/drawingml/2006/main" w="12700">
            <a:solidFill>
              <a:srgbClr val="8C7647"/>
            </a:solidFill>
            <a:prstDash val="solid"/>
          </a:ln>
          <a:effectLst xmlns:a="http://schemas.openxmlformats.org/drawingml/2006/main">
            <a:outerShdw blurRad="88900" dist="254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00BB98-D949-44CC-BB71-52ACD74D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1600200"/>
            <a:ext cx="1755648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第 45 节</a:t>
            </a:r>
            <a:endParaRPr sz="1200"/>
          </a:p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20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接入与路由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1F15E87-FFDB-4CD0-8A72-61ACC33A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54096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1ECFD6A-34C3-4399-BEF6-BD9AFE9A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971800"/>
            <a:ext cx="784555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300">
                <a:solidFill>
                  <a:srgbClr val="D6D6D6"/>
                </a:solidFill>
                <a:latin typeface="Arial"/>
                <a:ea typeface="Arial"/>
                <a:cs typeface="Arial"/>
              </a:rPr>
              <a:t>这些模块都直接引用第 39 节的 Message、状态和公共接口。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53D14F6-6416-4BB6-B3BC-E353B8B3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66160"/>
            <a:ext cx="77724" cy="777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96E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558C7B6-A9FD-449A-A361-7B0D9406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3483864"/>
            <a:ext cx="7845552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08000"/>
              </a:lnSpc>
              <a:buNone/>
            </a:pPr>
            <a:r>
              <a:rPr sz="1300">
                <a:solidFill>
                  <a:srgbClr val="D6D6D6"/>
                </a:solidFill>
                <a:latin typeface="Arial"/>
                <a:ea typeface="Arial"/>
                <a:cs typeface="Arial"/>
              </a:rPr>
              <a:t>发现字段或接口冲突时，先修订第 39 节，再同步检查所有依赖节。</a:t>
            </a:r>
            <a:endParaRPr sz="13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C1801C05-9046-4885-B1B3-C46E0623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8138160" cy="62179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2B2B2B"/>
          </a:solidFill>
          <a:ln xmlns:a="http://schemas.openxmlformats.org/drawingml/2006/main" w="12700">
            <a:solidFill>
              <a:srgbClr val="3A3A3A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2BBFBD3-3C6C-4B10-AA3C-9E28AA2B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4114800"/>
            <a:ext cx="7662672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6000"/>
              </a:lnSpc>
              <a:buNone/>
            </a:pPr>
            <a:r>
              <a:rPr sz="1250" b="1">
                <a:solidFill>
                  <a:srgbClr val="C9A96E"/>
                </a:solidFill>
                <a:latin typeface="Arial"/>
                <a:ea typeface="Arial"/>
                <a:cs typeface="Arial"/>
              </a:rPr>
              <a:t>第 39 节的价值：让后续模块面对同一组事实，最终可以正确组合。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73661577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2026-08-10T00:26:05.3770000Z</dcterms:created>
  <dcterms:modified xsi:type="dcterms:W3CDTF">2026-08-10T00:26:05.3770000Z</dcterms:modified>
</coreProperties>
</file>