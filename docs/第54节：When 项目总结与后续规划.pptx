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1042416" cy="329184"/>
          </a:xfrm>
          <a:prstGeom prst="roundRect">
            <a:avLst>
              <a:gd name="adj" fmla="val 13889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868680"/>
            <a:ext cx="104241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54 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9905" y="155448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When 项目总结与后续规划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 AI 编程，做出一个生产可用的分布式延时投递组件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成果 · Loop Engineering 方法论 · AI 编程总结 · 后续规划 · 社区推进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54 节 · When 项目总结与后续规划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914400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做成了什么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When = 生产可用的分布式延时投递组件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" y="1700784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集群协调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" y="2084832"/>
            <a:ext cx="23042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ETCD 组集群、选主、感知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01568" y="1700784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多副本高可用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19856" y="2084832"/>
            <a:ext cx="23042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每个时间轮 Master/Slave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155448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90488" y="1700784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自动故障切换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08776" y="2084832"/>
            <a:ext cx="23042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Master 挂 10 秒内接管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" y="2935224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不丢消息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" y="3319272"/>
            <a:ext cx="23042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先落库、Redis 是真源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91840" y="278892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01568" y="2935224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多层时间轮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19856" y="3319272"/>
            <a:ext cx="23042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O(1)、秒到 30 天、精度稳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0760" y="278892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90488" y="2935224"/>
            <a:ext cx="23408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一键部署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08776" y="3319272"/>
            <a:ext cx="23042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compose / 单机 / K8s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397764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" y="3977640"/>
            <a:ext cx="76626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一句话：</a:t>
            </a:r>
            <a:r>
              <a:rPr lang="en-US" sz="125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不是单机 toy，是带 HA 的集群版——这些分布式硬指标做到了，When 才算“生产可用”，作为 AI 编程样本才有说服力。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54 节 · When 项目总结与后续规划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786384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7863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全景回顾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一条延时消息，从进来到投出去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262626"/>
          </a:solidFill>
          <a:ln w="12700">
            <a:solidFill>
              <a:srgbClr val="7FA8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554480"/>
            <a:ext cx="129844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FA8C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业务方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1417320"/>
            <a:ext cx="4480560" cy="2194560"/>
          </a:xfrm>
          <a:prstGeom prst="roundRect">
            <a:avLst>
              <a:gd name="adj" fmla="val 2500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55448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When 集群（同构多节点）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31720" y="187452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68296" y="1874520"/>
            <a:ext cx="1161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接入/路由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0" y="187452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94176" y="1874520"/>
            <a:ext cx="1161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时间轮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83480" y="18745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0056" y="1874520"/>
            <a:ext cx="13898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Master/Slave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31720" y="251460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68296" y="2514600"/>
            <a:ext cx="1161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Sink 投递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0" y="2514600"/>
            <a:ext cx="2788920" cy="502920"/>
          </a:xfrm>
          <a:prstGeom prst="roundRect">
            <a:avLst>
              <a:gd name="adj" fmla="val 1090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94176" y="2514600"/>
            <a:ext cx="2715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Controller · 选主/切换/rebalance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155448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62626"/>
          </a:solidFill>
          <a:ln w="12700">
            <a:solidFill>
              <a:srgbClr val="7FB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0296" y="1554480"/>
            <a:ext cx="166420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7FB0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ETCD（协调）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233172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62626"/>
          </a:solidFill>
          <a:ln w="12700">
            <a:solidFill>
              <a:srgbClr val="7FB0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0296" y="2331720"/>
            <a:ext cx="166420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7FB0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Redis（真源）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310896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0296" y="3108960"/>
            <a:ext cx="166420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A9A9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下游 HTTP/Kafka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371600" y="1874520"/>
            <a:ext cx="758952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169164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29400" y="1874520"/>
            <a:ext cx="256032" cy="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2651760"/>
            <a:ext cx="256032" cy="0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2761488"/>
            <a:ext cx="0" cy="0"/>
          </a:xfrm>
          <a:prstGeom prst="line">
            <a:avLst/>
          </a:prstGeom>
          <a:noFill/>
          <a:ln w="19050">
            <a:solidFill>
              <a:srgbClr val="1E1E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035808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9A9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到点投递 →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46520" y="2761488"/>
            <a:ext cx="1325880" cy="0"/>
          </a:xfrm>
          <a:prstGeom prst="line">
            <a:avLst/>
          </a:prstGeom>
          <a:noFill/>
          <a:ln w="19050">
            <a:solidFill>
              <a:srgbClr val="8C7647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772400" y="2761488"/>
            <a:ext cx="0" cy="329184"/>
          </a:xfrm>
          <a:prstGeom prst="line">
            <a:avLst/>
          </a:prstGeom>
          <a:noFill/>
          <a:ln w="19050">
            <a:solidFill>
              <a:srgbClr val="8C764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84048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3840480"/>
            <a:ext cx="7662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外 HTTP 内 gRPC　·　</a:t>
            </a:r>
            <a:r>
              <a:rPr lang="en-US" sz="125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消息先落 Redis 再入内存时间轮；到点触发交 Sink 投递；ETCD 管集群、Redis 管数据，都不重复造轮子。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54 节 · When 项目总结与后续规划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042416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04241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六大技术决策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每个决策都是一次工程取舍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886200" cy="749808"/>
          </a:xfrm>
          <a:prstGeom prst="roundRect">
            <a:avLst>
              <a:gd name="adj" fmla="val 73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600200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ETCD 做协调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892808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云原生标准、Lease/Watch 天生适配注册与切换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3886200" cy="749808"/>
          </a:xfrm>
          <a:prstGeom prst="roundRect">
            <a:avLst>
              <a:gd name="adj" fmla="val 73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600200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Redis 做存储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37760" y="1892808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写快、有 TTL、普及度高；拆小 key 避大 Key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423160"/>
            <a:ext cx="3886200" cy="749808"/>
          </a:xfrm>
          <a:prstGeom prst="roundRect">
            <a:avLst>
              <a:gd name="adj" fmla="val 73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2514600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多层时间轮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" y="2807208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O(1) 内存调度，覆盖秒到 30 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886200" cy="749808"/>
          </a:xfrm>
          <a:prstGeom prst="roundRect">
            <a:avLst>
              <a:gd name="adj" fmla="val 73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514600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Master/Slave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37760" y="2807208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要的是快速切换，不是强一致；不上 Raft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337560"/>
            <a:ext cx="3886200" cy="749808"/>
          </a:xfrm>
          <a:prstGeom prst="roundRect">
            <a:avLst>
              <a:gd name="adj" fmla="val 73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3429000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外 HTTP 内 gRPC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" y="3721608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外接门槛最低，内传高效强类型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337560"/>
            <a:ext cx="3886200" cy="749808"/>
          </a:xfrm>
          <a:prstGeom prst="roundRect">
            <a:avLst>
              <a:gd name="adj" fmla="val 73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3429000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Java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37760" y="3721608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中间件生态成熟、运维与人才现实最优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20624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" y="4206240"/>
            <a:ext cx="766267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共同底色：</a:t>
            </a:r>
            <a:r>
              <a:rPr lang="en-US" sz="125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能借成熟组件就不自造、状态外置到 Redis、按场景选型不追理论完美——简单够用胜过复杂完美。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54 节 · When 项目总结与后续规划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914400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硬指标兑现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“生产可用”不是口号，是可验证的断言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7FB08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70078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FB0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不丢消息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" y="2066544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杀 Master，已落库消息一条不丢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C9A96E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70078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 秒切换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01568" y="2066544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故障到新 Master 接管 &lt; 10s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55448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C9A96E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70078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投递精度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90488" y="2066544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到期延迟 P99 在阈值内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7FB08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93522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FB0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规避大 Key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" y="3300984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每条消息独立小 key，不用 ZSet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78892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7FA8C9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293522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FA8C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至少一次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01568" y="3300984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不丢、可能重复 + 下游幂等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278892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7FA8C9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293522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FA8C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一键部署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90488" y="3300984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compose/K8s 起 3 节点集群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97764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" y="3977640"/>
            <a:ext cx="76626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每条都有对应的自动化 / 混沌测试当判官——</a:t>
            </a:r>
            <a:r>
              <a:rPr lang="en-US" sz="125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这正是第 38 节讲的：验收不写“覆盖率≥X%”，写“注入故障后 N 条零丢失”这种直指失败模式的断言。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54 节 · When 项目总结与后续规划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426464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42646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但这门课真正的主角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不是 When，是把 When 做出来的方式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Loop Engineering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02920" y="2596896"/>
            <a:ext cx="77724" cy="77724"/>
          </a:xfrm>
          <a:prstGeom prst="ellipse">
            <a:avLst/>
          </a:prstGeom>
          <a:solidFill>
            <a:srgbClr val="C9A96E"/>
          </a:solidFill>
        </p:spPr>
      </p:sp>
      <p:sp>
        <p:nvSpPr>
          <p:cNvPr id="9" name="Text 7"/>
          <p:cNvSpPr/>
          <p:nvPr/>
        </p:nvSpPr>
        <p:spPr>
          <a:xfrm>
            <a:off x="740664" y="2514600"/>
            <a:ext cx="7845552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When 只是样本——要证明的是：企业级中间件，能用 AI 编程做出来，核心代码 90%+ 由 AI 写。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77724" cy="77724"/>
          </a:xfrm>
          <a:prstGeom prst="ellipse">
            <a:avLst/>
          </a:prstGeom>
          <a:solidFill>
            <a:srgbClr val="C9A96E"/>
          </a:solidFill>
        </p:spPr>
      </p:sp>
      <p:sp>
        <p:nvSpPr>
          <p:cNvPr id="11" name="Text 9"/>
          <p:cNvSpPr/>
          <p:nvPr/>
        </p:nvSpPr>
        <p:spPr>
          <a:xfrm>
            <a:off x="740664" y="3118104"/>
            <a:ext cx="7845552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做法不是坐着一条条下指令，而是设计一个能让 AI 自主循环工作的环境和规则，让它自己转。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803904"/>
            <a:ext cx="77724" cy="77724"/>
          </a:xfrm>
          <a:prstGeom prst="ellipse">
            <a:avLst/>
          </a:prstGeom>
          <a:solidFill>
            <a:srgbClr val="C9A96E"/>
          </a:solidFill>
        </p:spPr>
      </p:sp>
      <p:sp>
        <p:nvSpPr>
          <p:cNvPr id="13" name="Text 11"/>
          <p:cNvSpPr/>
          <p:nvPr/>
        </p:nvSpPr>
        <p:spPr>
          <a:xfrm>
            <a:off x="740664" y="3721608"/>
            <a:ext cx="7845552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人的精力，从“写提示词”转移到“设计循环、设计判官、在关键点把关”。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" y="4343400"/>
            <a:ext cx="7662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一句话：</a:t>
            </a:r>
            <a:r>
              <a:rPr lang="en-US" sz="125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执行交给循环，判断留给人。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54 节 · When 项目总结与后续规划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65836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6583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方法论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底座 → 逐节原料 → 两次跑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554480"/>
            <a:ext cx="1737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① 底座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06040" y="1554480"/>
            <a:ext cx="5760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领域模型 Message + 模块间契约（SPI）——所有模块的共同词汇表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71600" y="23317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C764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487168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2487168"/>
            <a:ext cx="1737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② 逐节原料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06040" y="2487168"/>
            <a:ext cx="5760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每节一份 part：功能 + task + Harness + 验收，引用底座、彼此咬合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71600" y="3264408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C764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419856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419856"/>
            <a:ext cx="1737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③ 两次跑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06040" y="3419856"/>
            <a:ext cx="5760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把原料喂给循环自主实现；跑 → 冒问题 → 回填原料 → 再跑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434840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" y="4434840"/>
            <a:ext cx="7662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关键：</a:t>
            </a:r>
            <a:r>
              <a:rPr lang="en-US" sz="125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先有共同的模型和接口，循环各节的产出才是“同一台机器的零件”，最后拼得起来、一口气跑出来。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54 节 · When 项目总结与后续规划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257860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257860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Loop 最重要的是 Harness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循环放大的，是你事先设计的判官质量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 w="12700">
            <a:solidFill>
              <a:srgbClr val="7FA8C9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67335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FA8C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代码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12264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结构/命名/lint 规范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 w="12700">
            <a:solidFill>
              <a:srgbClr val="C98A82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67335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8A8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安全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112264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不硬编码密钥、不越权、环境变量注入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150876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 w="12700">
            <a:solidFill>
              <a:srgbClr val="C9A96E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67335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验收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2112264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单测/集成/CI/混沌——循环的判官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20040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" y="3200400"/>
            <a:ext cx="76626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判官不能被收买：</a:t>
            </a:r>
            <a:r>
              <a:rPr lang="en-US" sz="125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禁止循环改/删测试、实现者与验证者分离、CI 当循环够不着的外部判官。没有靠谱的判官，循环就是在高速地放大错误。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11480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" y="4114800"/>
            <a:ext cx="766267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9A9A9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When 的实践：</a:t>
            </a:r>
            <a:r>
              <a:rPr lang="en-US" sz="12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混沌测试（杀节点/分区）交 CI；不丢、10 秒切换、脑裂唯一性，都是可判定断言。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54 节 · When 项目总结与后续规划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65836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6583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两次跑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第一次单机核心，第二次完整 HA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909060" cy="1554480"/>
          </a:xfrm>
          <a:prstGeom prst="roundRect">
            <a:avLst>
              <a:gd name="adj" fmla="val 352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73352"/>
            <a:ext cx="39090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7FB0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46 节 · 第一次跑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139696"/>
            <a:ext cx="77724" cy="77724"/>
          </a:xfrm>
          <a:prstGeom prst="ellipse">
            <a:avLst/>
          </a:prstGeom>
          <a:solidFill>
            <a:srgbClr val="7FB08A"/>
          </a:solidFill>
        </p:spPr>
      </p:sp>
      <p:sp>
        <p:nvSpPr>
          <p:cNvPr id="10" name="Text 8"/>
          <p:cNvSpPr/>
          <p:nvPr/>
        </p:nvSpPr>
        <p:spPr>
          <a:xfrm>
            <a:off x="877824" y="2057400"/>
            <a:ext cx="34518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单机核心链路：收→存→路由→到点触发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450592"/>
            <a:ext cx="77724" cy="77724"/>
          </a:xfrm>
          <a:prstGeom prst="ellipse">
            <a:avLst/>
          </a:prstGeom>
          <a:solidFill>
            <a:srgbClr val="7FB08A"/>
          </a:solidFill>
        </p:spPr>
      </p:sp>
      <p:sp>
        <p:nvSpPr>
          <p:cNvPr id="12" name="Text 10"/>
          <p:cNvSpPr/>
          <p:nvPr/>
        </p:nvSpPr>
        <p:spPr>
          <a:xfrm>
            <a:off x="877824" y="2368296"/>
            <a:ext cx="34518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集群组建、选主、上下线感知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761488"/>
            <a:ext cx="77724" cy="77724"/>
          </a:xfrm>
          <a:prstGeom prst="ellipse">
            <a:avLst/>
          </a:prstGeom>
          <a:solidFill>
            <a:srgbClr val="7FB08A"/>
          </a:solidFill>
        </p:spPr>
      </p:sp>
      <p:sp>
        <p:nvSpPr>
          <p:cNvPr id="14" name="Text 12"/>
          <p:cNvSpPr/>
          <p:nvPr/>
        </p:nvSpPr>
        <p:spPr>
          <a:xfrm>
            <a:off x="877824" y="2679192"/>
            <a:ext cx="34518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投递先用桩，闭合链路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32020" y="1508760"/>
            <a:ext cx="3909060" cy="1554480"/>
          </a:xfrm>
          <a:prstGeom prst="roundRect">
            <a:avLst>
              <a:gd name="adj" fmla="val 3529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32020" y="1673352"/>
            <a:ext cx="39090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53 节 · 第二次跑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69180" y="2139696"/>
            <a:ext cx="77724" cy="77724"/>
          </a:xfrm>
          <a:prstGeom prst="ellipse">
            <a:avLst/>
          </a:prstGeom>
          <a:solidFill>
            <a:srgbClr val="C9A96E"/>
          </a:solidFill>
        </p:spPr>
      </p:sp>
      <p:sp>
        <p:nvSpPr>
          <p:cNvPr id="18" name="Text 16"/>
          <p:cNvSpPr/>
          <p:nvPr/>
        </p:nvSpPr>
        <p:spPr>
          <a:xfrm>
            <a:off x="5106924" y="2057400"/>
            <a:ext cx="34518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真 HTTP/Kafka 投递、副本 + 10 秒切换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69180" y="2450592"/>
            <a:ext cx="77724" cy="77724"/>
          </a:xfrm>
          <a:prstGeom prst="ellipse">
            <a:avLst/>
          </a:prstGeom>
          <a:solidFill>
            <a:srgbClr val="C9A96E"/>
          </a:solidFill>
        </p:spPr>
      </p:sp>
      <p:sp>
        <p:nvSpPr>
          <p:cNvPr id="20" name="Text 18"/>
          <p:cNvSpPr/>
          <p:nvPr/>
        </p:nvSpPr>
        <p:spPr>
          <a:xfrm>
            <a:off x="5106924" y="2368296"/>
            <a:ext cx="34518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Controller rebalance、多节点分发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69180" y="2761488"/>
            <a:ext cx="77724" cy="77724"/>
          </a:xfrm>
          <a:prstGeom prst="ellipse">
            <a:avLst/>
          </a:prstGeom>
          <a:solidFill>
            <a:srgbClr val="C9A96E"/>
          </a:solidFill>
        </p:spPr>
      </p:sp>
      <p:sp>
        <p:nvSpPr>
          <p:cNvPr id="22" name="Text 20"/>
          <p:cNvSpPr/>
          <p:nvPr/>
        </p:nvSpPr>
        <p:spPr>
          <a:xfrm>
            <a:off x="5106924" y="2679192"/>
            <a:ext cx="34518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自动部署 + SDK 测 + 管理台看 + 演示 HA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333756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3337560"/>
            <a:ext cx="766267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每次都是：</a:t>
            </a:r>
            <a:r>
              <a:rPr lang="en-US" sz="125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跑 → 冒问题 → 回填到对应节的原料（不打补丁）→ 从干净状态再跑，直到判官全绿。改输入，比在对话里跟 AI 掰扯十回合更有效。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54 节 · When 项目总结与后续规划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170432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1704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编程总结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三句能带走的话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8138160" cy="841248"/>
          </a:xfrm>
          <a:prstGeom prst="roundRect">
            <a:avLst>
              <a:gd name="adj" fmla="val 6522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554480"/>
            <a:ext cx="21945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杠杆变了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63240" y="1554480"/>
            <a:ext cx="53035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从“写好一句提示词”，到“设计一个能自主循环的环境和规则”。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8138160" cy="841248"/>
          </a:xfrm>
          <a:prstGeom prst="roundRect">
            <a:avLst>
              <a:gd name="adj" fmla="val 6522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542032"/>
            <a:ext cx="21945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人退到检查点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63240" y="2542032"/>
            <a:ext cx="53035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干执行，人做判断——定目标、设规则、看关键处、拍板高风险。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529584"/>
            <a:ext cx="8138160" cy="841248"/>
          </a:xfrm>
          <a:prstGeom prst="roundRect">
            <a:avLst>
              <a:gd name="adj" fmla="val 6522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529584"/>
            <a:ext cx="21945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按可验证性分工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63240" y="3529584"/>
            <a:ext cx="53035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能廉价确定验证 → 交循环；错不起又难验证（分布式一致性/资金安全）→ 人主导。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54 节 · When 项目总结与后续规划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786384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7863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后续规划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周 MVP 之外，社区接力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70078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更多 Sink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0936" y="2048256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gRPC / RocketMQ / NATS / Pulsar，SPI 加载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70078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鉴权与限流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19856" y="2048256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token 鉴权、按调用方 QPS/配额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55448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70078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死信队列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08776" y="2048256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多次失败进死信，可查可重投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93522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优先级队列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0936" y="3282696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P0–P3，到期高优先先投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278892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293522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跨地域部署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419856" y="3282696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时间轮按地域、跨地域 ETCD/Redis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0760" y="278892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293522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Operator / MCP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08776" y="3282696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K8s Operator 工程化；暴露为 MCP 让 Agent 直接调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97764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" y="3977640"/>
            <a:ext cx="76626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边界清晰：</a:t>
            </a:r>
            <a:r>
              <a:rPr lang="en-US" sz="125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这些都不在 3 周 MVP 内，通过 GitHub 社区接力持续推进，由从学员中产生的 maintainer 主导。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54 节 · When 项目总结与后续规划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786384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7863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社区推进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把项目交给对它感兴趣的人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" y="1600200"/>
            <a:ext cx="1755648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点 Star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了解项目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13432" y="1600200"/>
            <a:ext cx="310896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06040" y="160020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42616" y="1600200"/>
            <a:ext cx="1755648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认领 issue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从小处上手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16552" y="1600200"/>
            <a:ext cx="310896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09160" y="160020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45736" y="1600200"/>
            <a:ext cx="1755648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提第一个 PR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经 review 合并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9672" y="1600200"/>
            <a:ext cx="310896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12280" y="160020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blurRad="889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48856" y="1600200"/>
            <a:ext cx="1755648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成为 maintainer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主导一块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54096"/>
            <a:ext cx="77724" cy="77724"/>
          </a:xfrm>
          <a:prstGeom prst="ellipse">
            <a:avLst/>
          </a:prstGeom>
          <a:solidFill>
            <a:srgbClr val="C9A96E"/>
          </a:solidFill>
        </p:spPr>
      </p:sp>
      <p:sp>
        <p:nvSpPr>
          <p:cNvPr id="19" name="Text 17"/>
          <p:cNvSpPr/>
          <p:nvPr/>
        </p:nvSpPr>
        <p:spPr>
          <a:xfrm>
            <a:off x="740664" y="2971800"/>
            <a:ext cx="7845552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核心是社区建设：找到真正对项目感兴趣的人，把它持续推动下去。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566160"/>
            <a:ext cx="77724" cy="77724"/>
          </a:xfrm>
          <a:prstGeom prst="ellipse">
            <a:avLst/>
          </a:prstGeom>
          <a:solidFill>
            <a:srgbClr val="C9A96E"/>
          </a:solidFill>
        </p:spPr>
      </p:sp>
      <p:sp>
        <p:nvSpPr>
          <p:cNvPr id="21" name="Text 19"/>
          <p:cNvSpPr/>
          <p:nvPr/>
        </p:nvSpPr>
        <p:spPr>
          <a:xfrm>
            <a:off x="740664" y="3483864"/>
            <a:ext cx="7845552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我也会持续参与推动——不是做完就散，而是让 When 长期活着、被引用。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11480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" y="4114800"/>
            <a:ext cx="766267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欢迎：</a:t>
            </a:r>
            <a:r>
              <a:rPr lang="en-US" sz="125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GitHub 仓库 Star / Issue / PR（占位：github.com/…）· 交流群（占位）。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 54 节 · When 项目总结与后续规划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530352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5303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收束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从一份技术方案，到一个能用的组件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91056"/>
            <a:ext cx="77724" cy="77724"/>
          </a:xfrm>
          <a:prstGeom prst="ellipse">
            <a:avLst/>
          </a:prstGeom>
          <a:solidFill>
            <a:srgbClr val="C9A96E"/>
          </a:solidFill>
        </p:spPr>
      </p:sp>
      <p:sp>
        <p:nvSpPr>
          <p:cNvPr id="8" name="Text 6"/>
          <p:cNvSpPr/>
          <p:nvPr/>
        </p:nvSpPr>
        <p:spPr>
          <a:xfrm>
            <a:off x="740664" y="1508760"/>
            <a:ext cx="7845552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When：一个生产可用的分布式延时投递组件——集群、多副本、自动故障切换、不丢消息。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249424"/>
            <a:ext cx="77724" cy="77724"/>
          </a:xfrm>
          <a:prstGeom prst="ellipse">
            <a:avLst/>
          </a:prstGeom>
          <a:solidFill>
            <a:srgbClr val="C9A96E"/>
          </a:solidFill>
        </p:spPr>
      </p:sp>
      <p:sp>
        <p:nvSpPr>
          <p:cNvPr id="10" name="Text 8"/>
          <p:cNvSpPr/>
          <p:nvPr/>
        </p:nvSpPr>
        <p:spPr>
          <a:xfrm>
            <a:off x="740664" y="2167128"/>
            <a:ext cx="7845552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怎么做的：底座定契约 → 逐节产出可验证原料 → 两次跑，循环自主实现、人在高风险点把关。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907792"/>
            <a:ext cx="77724" cy="77724"/>
          </a:xfrm>
          <a:prstGeom prst="ellipse">
            <a:avLst/>
          </a:prstGeom>
          <a:solidFill>
            <a:srgbClr val="C9A96E"/>
          </a:solidFill>
        </p:spPr>
      </p:sp>
      <p:sp>
        <p:nvSpPr>
          <p:cNvPr id="12" name="Text 10"/>
          <p:cNvSpPr/>
          <p:nvPr/>
        </p:nvSpPr>
        <p:spPr>
          <a:xfrm>
            <a:off x="740664" y="2825496"/>
            <a:ext cx="7845552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真正学到的：用 AI 编程做企业级项目的方法——设计循环、设计判官，而 Loop 最重要的永远是 Harness。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4023360"/>
            <a:ext cx="8138160" cy="640080"/>
          </a:xfrm>
          <a:prstGeom prst="roundRect">
            <a:avLst>
              <a:gd name="adj" fmla="val 8571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4023360"/>
            <a:ext cx="7662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一句话收口：</a:t>
            </a:r>
            <a:r>
              <a:rPr lang="en-US" sz="125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可验证的交给循环，判断留给人；When 是样本，方法才是带得走的东西。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73736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谢谢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02920" y="27432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When 交给社区，方法带回你的项目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33832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9A9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GitHub（占位）　·　交流群（占位）　·　欢迎认领 issue、提 PR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3029</Words>
  <Application>WPS 演示</Application>
  <PresentationFormat>On-screen Show (16:9)</PresentationFormat>
  <Paragraphs>346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Arial</vt:lpstr>
      <vt:lpstr>Arial</vt:lpstr>
      <vt:lpstr>宋体</vt:lpstr>
      <vt:lpstr>汉仪书宋二KW</vt:lpstr>
      <vt:lpstr>Calibri</vt:lpstr>
      <vt:lpstr>Helvetica Neue</vt:lpstr>
      <vt:lpstr>微软雅黑</vt:lpstr>
      <vt:lpstr>方正雅意黑 GB18030L2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项目总结与后续规划</dc:title>
  <dc:creator>训练营</dc:creator>
  <dc:subject>PptxGenJS Presentation</dc:subject>
  <cp:lastModifiedBy>姚小强</cp:lastModifiedBy>
  <cp:revision>2</cp:revision>
  <dcterms:created xsi:type="dcterms:W3CDTF">2026-08-19T08:00:18Z</dcterms:created>
  <dcterms:modified xsi:type="dcterms:W3CDTF">2026-08-19T08:00:18Z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3A3ACADA3C8708C19262856AFE98FA6A_42</vt:lpwstr>
  </property>
</Properties>
</file>