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042416" cy="329184"/>
          </a:xfrm>
          <a:prstGeom prst="roundRect">
            <a:avLst>
              <a:gd name="adj" fmla="val 13889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6868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38 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下的自动化测试验收体系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给循环造一个骗不过去的判官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上一节说 Harness 最重要；这一节把 Harness 里最硬的那块 —— 验收 —— 讲透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38 节 · Loop 下的自动化测试验收体系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29844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承接第 37 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循环每转一圈，都在问“对了没”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499360" cy="822960"/>
          </a:xfrm>
          <a:prstGeom prst="roundRect">
            <a:avLst>
              <a:gd name="adj" fmla="val 666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" y="1463040"/>
            <a:ext cx="2426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写实现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83992" y="1463040"/>
            <a:ext cx="356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22320" y="1463040"/>
            <a:ext cx="2499360" cy="822960"/>
          </a:xfrm>
          <a:prstGeom prst="roundRect">
            <a:avLst>
              <a:gd name="adj" fmla="val 666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8896" y="1463040"/>
            <a:ext cx="2426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跑验收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03392" y="1463040"/>
            <a:ext cx="356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41720" y="1463040"/>
            <a:ext cx="2499360" cy="822960"/>
          </a:xfrm>
          <a:prstGeom prst="roundRect">
            <a:avLst>
              <a:gd name="adj" fmla="val 6667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8296" y="1463040"/>
            <a:ext cx="2426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？对了没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41720" y="2359152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答案来自这套测试验收体系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77977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" y="2697480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这个“对了没”的答案，全部来自自动化测试与验收。它就是循环的判官。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346704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" y="3264408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判官强，循环才能自己收敛到正确；判官弱或缺席，循环只是在高速地、自信地放大错误。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913632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" y="3831336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所以在 Loop 编程里，测试不是“做完再补”的收尾工作，而是“开工前先立”的地基。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434840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4434840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你设计判官的质量，直接决定 Loop 能不能用。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38 节 · Loop 下的自动化测试验收体系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682496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的测试金字塔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五层，越往上越慢、越贵、越接近真实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7FB08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88920" y="14173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时间轮算法 · 一致性 hash · 序列化 —— 纯逻辑，毫秒级，量最大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51560" y="2048256"/>
            <a:ext cx="704088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7FA8C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20482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37560" y="204825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真连 Redis / ETCD，验证读写与协调语义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00200" y="2679192"/>
            <a:ext cx="594360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7FA8C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37360" y="26791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86200" y="26791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提交 → 调度 → Sink 收到，一整条链路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48840" y="3310128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0" y="33101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分布式正确性（混沌）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34840" y="33101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杀节点 / 注入分区，验证正确性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97480" y="3941064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2700">
            <a:solidFill>
              <a:srgbClr val="C98A8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834640" y="39410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 / 压测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83480" y="39410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写入 P99、投递延迟、大量集中到期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90288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4590288"/>
            <a:ext cx="7662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的验收难点集中在上面两层 —— 尤其“分布式正确性”，普通单测测不出来。下面几页专攻这一层。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38 节 · Loop 下的自动化测试验收体系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810512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为什么分布式正确性最难测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它的失败，只在“恰好那一刻”出现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417320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普通功能测试测的是“输入 X 得到 Y”；分布式正确性测的是“节点在最糟的时刻挂掉，系统还对不对”。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066544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1984248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失败依赖时序和故障注入：不主动制造故障，测试永远绿，问题留到线上才爆。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2633472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" y="2551176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很多性质无法用一次断言证明，只能用“反复注入故障 + 不变量始终成立”来逼近。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3246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要守住的“不变量”：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3611880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不丢：落库的消息，最终一定投递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61188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3611880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不重复语义：可能重复，但可被幂等吸收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178808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" y="4178808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及时：Master 挂后 10 秒内接管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4178808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5736" y="4178808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唯一:任何时刻至多一个 Master / Controller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38 节 · Loop 下的自动化测试验收体系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554480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用例① · 不丢消息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杀掉 Master，消息还能不能投出去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22806" cy="960120"/>
          </a:xfrm>
          <a:prstGeom prst="roundRect">
            <a:avLst>
              <a:gd name="adj" fmla="val 5714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" y="1554480"/>
            <a:ext cx="13496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 N 条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延时消息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07438" y="155448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81758" y="1554480"/>
            <a:ext cx="1422806" cy="960120"/>
          </a:xfrm>
          <a:prstGeom prst="roundRect">
            <a:avLst>
              <a:gd name="adj" fmla="val 5714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18334" y="1554480"/>
            <a:ext cx="13496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确认已落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86277" y="155448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60597" y="1554480"/>
            <a:ext cx="1422806" cy="960120"/>
          </a:xfrm>
          <a:prstGeom prst="roundRect">
            <a:avLst>
              <a:gd name="adj" fmla="val 5714"/>
            </a:avLst>
          </a:prstGeom>
          <a:solidFill>
            <a:srgbClr val="2B2320"/>
          </a:solidFill>
          <a:ln w="12700">
            <a:solidFill>
              <a:srgbClr val="C98A8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97173" y="1554480"/>
            <a:ext cx="13496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到期前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Master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65115" y="155448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539435" y="1554480"/>
            <a:ext cx="1422806" cy="960120"/>
          </a:xfrm>
          <a:prstGeom prst="roundRect">
            <a:avLst>
              <a:gd name="adj" fmla="val 5714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6011" y="1554480"/>
            <a:ext cx="13496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Slave / 新 Master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Redis 恢复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3954" y="155448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18274" y="1554480"/>
            <a:ext cx="1422806" cy="960120"/>
          </a:xfrm>
          <a:prstGeom prst="roundRect">
            <a:avLst>
              <a:gd name="adj" fmla="val 5714"/>
            </a:avLst>
          </a:prstGeom>
          <a:solidFill>
            <a:srgbClr val="1F2A22"/>
          </a:solidFill>
          <a:ln w="12700">
            <a:solidFill>
              <a:srgbClr val="7FB08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54850" y="1554480"/>
            <a:ext cx="13496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FB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断言 N 条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FB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全部投递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96265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" y="2880360"/>
            <a:ext cx="7845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验的是技术方案的核心契约：Redis 持久化先于返回业务方，Redis 是唯一真理之源。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474720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" y="3392424"/>
            <a:ext cx="7845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断言不只看“数量对”，还要看“内容对、不早投不晚投超阈值”。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406908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4069080"/>
            <a:ext cx="7662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判官形态：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一个自动化集成测试 —— 编排容器、注入 kill、收集下游收到的消息、断言集合相等。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38 节 · Loop 下的自动化测试验收体系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257860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用例②③ · 10 秒切换 与 脑裂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时延要测量，唯一性要在分区下验证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909060" cy="2148840"/>
          </a:xfrm>
          <a:prstGeom prst="roundRect">
            <a:avLst>
              <a:gd name="adj" fmla="val 2553"/>
            </a:avLst>
          </a:prstGeom>
          <a:solidFill>
            <a:srgbClr val="262626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6362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10 秒内接管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04825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1965960"/>
            <a:ext cx="3451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注入 Master 故障，打点记录“故障发生 → 新 Master 开始调度”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50545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2423160"/>
            <a:ext cx="3451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断言切换时延 &lt; 10 秒（对齐需求指标）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96265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880360"/>
            <a:ext cx="3451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切换窗口内的写入允许失败，但已落库消息零丢失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32020" y="1417320"/>
            <a:ext cx="3909060" cy="2148840"/>
          </a:xfrm>
          <a:prstGeom prst="roundRect">
            <a:avLst>
              <a:gd name="adj" fmla="val 2553"/>
            </a:avLst>
          </a:prstGeom>
          <a:solidFill>
            <a:srgbClr val="262626"/>
          </a:solidFill>
          <a:ln w="12700">
            <a:solidFill>
              <a:srgbClr val="C98A8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32020" y="156362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脑裂 / 选主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869180" y="2048256"/>
            <a:ext cx="77724" cy="77724"/>
          </a:xfrm>
          <a:prstGeom prst="ellipse">
            <a:avLst/>
          </a:prstGeom>
          <a:solidFill>
            <a:srgbClr val="C98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106924" y="1965960"/>
            <a:ext cx="3451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用工具切断节点间网络，制造分区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69180" y="2505456"/>
            <a:ext cx="77724" cy="77724"/>
          </a:xfrm>
          <a:prstGeom prst="ellipse">
            <a:avLst/>
          </a:prstGeom>
          <a:solidFill>
            <a:srgbClr val="C98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106924" y="2423160"/>
            <a:ext cx="3451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断言任意时刻至多一个 Controller、每个时间轮至多一个 Master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69180" y="2962656"/>
            <a:ext cx="77724" cy="77724"/>
          </a:xfrm>
          <a:prstGeom prst="ellipse">
            <a:avLst/>
          </a:prstGeom>
          <a:solidFill>
            <a:srgbClr val="C98A82"/>
          </a:solidFill>
          <a:ln/>
        </p:spPr>
      </p:sp>
      <p:sp>
        <p:nvSpPr>
          <p:cNvPr id="22" name="Text 20"/>
          <p:cNvSpPr/>
          <p:nvPr/>
        </p:nvSpPr>
        <p:spPr>
          <a:xfrm>
            <a:off x="5106924" y="2880360"/>
            <a:ext cx="3451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分区恢复后能收敛回单一 Master，无双写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74904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3749040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共同点：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都不是“跑一次通过”，而是“反复注入 + 不变量始终成立”。这类测试要能重复、可自动判定。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38 节 · Loop 下的自动化测试验收体系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170432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故障注入的手法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把“最糟的时刻”变成可重复的测试步骤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262626"/>
          </a:solidFill>
          <a:ln w="12700">
            <a:solidFill>
              <a:srgbClr val="7FA8C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杀容器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167128"/>
            <a:ext cx="201168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28600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 kill / stop 某个 When 节点，模拟宕机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262626"/>
          </a:solidFill>
          <a:ln w="12700">
            <a:solidFill>
              <a:srgbClr val="C98A8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网络分区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566160" y="2167128"/>
            <a:ext cx="201168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28600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切断节点间连通，模拟脑裂与网络孤岛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50876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262626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延迟 / 丢包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55080" y="2167128"/>
            <a:ext cx="201168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228600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给链路注入延迟、抖动、丢包，压副本同步与心跳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52044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3520440"/>
            <a:ext cx="7662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落地方式：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注入动作写进测试脚本 / docker-compose 编排，跟被测集群一起起、一起验 —— 常用手段有容器编排杀进程、tc 注入网络故障、代理层制造延迟与断连。故障是“测试的输入”，不是意外。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38 节 · Loop 下的自动化测试验收体系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170432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判官不能被收买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测试是 Loop 的护栏，必须防作弊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909060" cy="182880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 w="12700">
            <a:solidFill>
              <a:srgbClr val="C98A8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6362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循环可能这样“骗过”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048256"/>
            <a:ext cx="77724" cy="77724"/>
          </a:xfrm>
          <a:prstGeom prst="ellipse">
            <a:avLst/>
          </a:prstGeom>
          <a:solidFill>
            <a:srgbClr val="C98A82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1965960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为了让测试变绿，改 / 删 / 禁用测试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50592"/>
            <a:ext cx="77724" cy="77724"/>
          </a:xfrm>
          <a:prstGeom prst="ellipse">
            <a:avLst/>
          </a:prstGeom>
          <a:solidFill>
            <a:srgbClr val="C98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2368296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把断言放松成“总能过”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52928"/>
            <a:ext cx="77724" cy="77724"/>
          </a:xfrm>
          <a:prstGeom prst="ellipse">
            <a:avLst/>
          </a:prstGeom>
          <a:solidFill>
            <a:srgbClr val="C98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770632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悄悄简化难场景（跳过混沌、缩短等待）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32020" y="1417320"/>
            <a:ext cx="3909060" cy="182880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 w="12700">
            <a:solidFill>
              <a:srgbClr val="7FB08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32020" y="156362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7FB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护栏怎么立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869180" y="2048256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18" name="Text 16"/>
          <p:cNvSpPr/>
          <p:nvPr/>
        </p:nvSpPr>
        <p:spPr>
          <a:xfrm>
            <a:off x="5106924" y="1965960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写进公共 Harness：禁止改动测试与验收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69180" y="2450592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20" name="Text 18"/>
          <p:cNvSpPr/>
          <p:nvPr/>
        </p:nvSpPr>
        <p:spPr>
          <a:xfrm>
            <a:off x="5106924" y="2368296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实现者 / 验证者分离：谁写代码，别让它改判官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69180" y="2852928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22" name="Text 20"/>
          <p:cNvSpPr/>
          <p:nvPr/>
        </p:nvSpPr>
        <p:spPr>
          <a:xfrm>
            <a:off x="5106924" y="2770632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当外部判官：跑在 agent 够不着的地方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3703320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关键分层：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循环本地能跑测试来自我修正，但“测试本身对不对”这条线，由人和 CI 守，循环无权更改。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38 节 · Loop 下的自动化测试验收体系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93852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测试怎么进 Harness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分层判官：快的循环自己跑，重的交出去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909060" cy="182880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0934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7FB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循环每轮本地跑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112264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2029968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单元测试、快集成：秒级返回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532888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2450592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/ 类型 / 编译：即时反馈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53512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871216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作用：让循环能自己修、快速收敛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32020" y="1463040"/>
            <a:ext cx="3909060" cy="1828800"/>
          </a:xfrm>
          <a:prstGeom prst="roundRect">
            <a:avLst>
              <a:gd name="adj" fmla="val 3000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32020" y="160934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 PR 交 CI / 人跑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69180" y="2112264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8" name="Text 16"/>
          <p:cNvSpPr/>
          <p:nvPr/>
        </p:nvSpPr>
        <p:spPr>
          <a:xfrm>
            <a:off x="5106924" y="2029968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端到端、混沌、压测：慢或有破坏性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69180" y="2532888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0" name="Text 18"/>
          <p:cNvSpPr/>
          <p:nvPr/>
        </p:nvSpPr>
        <p:spPr>
          <a:xfrm>
            <a:off x="5106924" y="2450592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跑在独立环境，循环够不着、改不了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69180" y="2953512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2" name="Text 20"/>
          <p:cNvSpPr/>
          <p:nvPr/>
        </p:nvSpPr>
        <p:spPr>
          <a:xfrm>
            <a:off x="5106924" y="2871216"/>
            <a:ext cx="34518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作用：当外部判官，把最终关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56616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3566160"/>
            <a:ext cx="7662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为什么分层：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全塞进每轮循环会太慢、还给了循环篡改破坏性测试的机会；全交 CI 又让循环失去即时判官。快在手边、重在门外，两头都要。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38 节 · Loop 下的自动化测试验收体系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93852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不追覆盖率数字，追失败模式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覆盖率也可能漏掉最致命的那 1%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909060" cy="1554480"/>
          </a:xfrm>
          <a:prstGeom prst="roundRect">
            <a:avLst>
              <a:gd name="adj" fmla="val 3529"/>
            </a:avLst>
          </a:prstGeom>
          <a:solidFill>
            <a:srgbClr val="262626"/>
          </a:solidFill>
          <a:ln w="12700">
            <a:solidFill>
              <a:srgbClr val="C98A8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0934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C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错误的目标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04088" y="2011680"/>
            <a:ext cx="3506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“把覆盖率刷到 90%” —— 循环会写一堆测 getter/setter 的空测试来凑数，关键失败模式一个没覆盖。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32020" y="1463040"/>
            <a:ext cx="3909060" cy="1554480"/>
          </a:xfrm>
          <a:prstGeom prst="roundRect">
            <a:avLst>
              <a:gd name="adj" fmla="val 3529"/>
            </a:avLst>
          </a:prstGeom>
          <a:solidFill>
            <a:srgbClr val="262626"/>
          </a:solidFill>
          <a:ln w="12700">
            <a:solidFill>
              <a:srgbClr val="7FB08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2020" y="160934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7FB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正确的目标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33188" y="2011680"/>
            <a:ext cx="3506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“能不能抓住 When 的关键失败模式” —— 丢消息、切换超时、脑裂、大量集中到期，每一个都有对应的测试盯着。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33756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337560"/>
            <a:ext cx="7662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验收标准这样写：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不写“覆盖率 ≥ X%”，而写“注入 Master 故障后 N 条消息零丢失”“分区下无双 Master”这种可判定、直指失败模式的断言。这才是循环能收敛的判官。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38 节 · Loop 下的自动化测试验收体系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938528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这套判官怎么服务“两次跑”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两部分的验收重心完全不同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909060" cy="2194560"/>
          </a:xfrm>
          <a:prstGeom prst="roundRect">
            <a:avLst>
              <a:gd name="adj" fmla="val 25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6362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B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第一部分验收 · 单机链路对不对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066544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1984248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时间轮到期精度（延迟分布 P99）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2386584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收进来的消息到点一定投出去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788920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 + 集成 + 单机端到端为主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273552"/>
            <a:ext cx="77724" cy="77724"/>
          </a:xfrm>
          <a:prstGeom prst="ellipse">
            <a:avLst/>
          </a:prstGeom>
          <a:solidFill>
            <a:srgbClr val="7FB08A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3191256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判官快、可重复，循环容易收敛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32020" y="1417320"/>
            <a:ext cx="3909060" cy="2194560"/>
          </a:xfrm>
          <a:prstGeom prst="roundRect">
            <a:avLst>
              <a:gd name="adj" fmla="val 2500"/>
            </a:avLst>
          </a:prstGeom>
          <a:solidFill>
            <a:srgbClr val="2B2620"/>
          </a:solidFill>
          <a:ln w="12700">
            <a:solidFill>
              <a:srgbClr val="8C764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32020" y="1563624"/>
            <a:ext cx="3909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第二部分验收 · 集群正确性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69180" y="2066544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0" name="Text 18"/>
          <p:cNvSpPr/>
          <p:nvPr/>
        </p:nvSpPr>
        <p:spPr>
          <a:xfrm>
            <a:off x="5106924" y="1984248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不丢、10 秒切换、脑裂唯一性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69180" y="2468880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2" name="Text 20"/>
          <p:cNvSpPr/>
          <p:nvPr/>
        </p:nvSpPr>
        <p:spPr>
          <a:xfrm>
            <a:off x="5106924" y="2386584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副本同步落后后的恢复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69180" y="287121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4" name="Text 22"/>
          <p:cNvSpPr/>
          <p:nvPr/>
        </p:nvSpPr>
        <p:spPr>
          <a:xfrm>
            <a:off x="5106924" y="2788920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混沌 / 故障注入为主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69180" y="3273552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6" name="Text 24"/>
          <p:cNvSpPr/>
          <p:nvPr/>
        </p:nvSpPr>
        <p:spPr>
          <a:xfrm>
            <a:off x="5106924" y="3191256"/>
            <a:ext cx="3451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判官慢、有破坏性，多交 CI / 人跑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384048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" y="3840480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呼应第 37 节：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“可验证交循环、难验证人在场”的分界，落到测试上，就是这两套重心不同的验收。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38 节 · Loop 下的自动化测试验收体系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786384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落地清单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设计一个 part 的验收，照这五问走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417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关键失败模式是什么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86200" y="141732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这块最怕出什么错？先列失败，再写测试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11226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11226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用哪层测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211226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纯逻辑→单元；依赖→集成；正确性→混沌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80720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8072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断言可判定吗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280720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能自动判对错，不靠人眼看日志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50215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5021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快的还是重的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86200" y="350215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快的进每轮循环，重的交 CI / 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19709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19709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判官防改吗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86200" y="419709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写进公共 Harness，循环无权改测试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38 节 · Loop 下的自动化测试验收体系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4864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530352" cy="310896"/>
          </a:xfrm>
          <a:prstGeom prst="roundRect">
            <a:avLst>
              <a:gd name="adj" fmla="val 14706"/>
            </a:avLst>
          </a:prstGeom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先立判官，再让循环开跑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545336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463040"/>
            <a:ext cx="7845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测试体系是 Loop 的命脉：循环每轮的“对了没”，答案全来自它。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2066544"/>
            <a:ext cx="7845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的难点在分布式正确性 —— 靠故障注入 + 不变量，把“最糟时刻”变成可重复的测试。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2752344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" y="2670048"/>
            <a:ext cx="7845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判官不能被收买：实现者 / 验证者分离、CI 当外部判官、测试写进公共 Harness 不许循环改。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355848"/>
            <a:ext cx="77724" cy="77724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" y="3273552"/>
            <a:ext cx="7845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不追覆盖率数字，追关键失败模式；快的进循环、重的交 CI。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11480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4114800"/>
            <a:ext cx="7662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一句话：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能不能信，取决于判官强不强 —— 造判官，是实现 When 之前最该做扎实的事。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 下的自动化测试验收体系</dc:title>
  <dc:subject>PptxGenJS Presentation</dc:subject>
  <dc:creator>训练营</dc:creator>
  <cp:lastModifiedBy>训练营</cp:lastModifiedBy>
  <cp:revision>1</cp:revision>
  <dcterms:created xsi:type="dcterms:W3CDTF">2026-07-30T00:59:45Z</dcterms:created>
  <dcterms:modified xsi:type="dcterms:W3CDTF">2026-07-30T00:59:45Z</dcterms:modified>
</cp:coreProperties>
</file>